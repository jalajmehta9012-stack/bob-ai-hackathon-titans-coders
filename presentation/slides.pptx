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34D399"/>
                </a:solidFill>
                <a:latin typeface="Aptos"/>
              </a:rPr>
              <a:t>THREATFUSION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EBF1F8"/>
                </a:solidFill>
                <a:latin typeface="Aptos"/>
              </a:rPr>
              <a:t>Threat Intelligence Correlation &amp;
Alert Prioritisation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37560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A4B1C1"/>
                </a:solidFill>
                <a:latin typeface="Aptos"/>
              </a:rPr>
              <a:t>From thousands of alerts to one clear threat picture.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480060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IBM BoB AI Innovation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49240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4B1C1"/>
                </a:solidFill>
                <a:latin typeface="Aptos"/>
              </a:rPr>
              <a:t>Problem Statement • Proposed Solution • Core Workflow • 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1C1"/>
                </a:solidFill>
                <a:latin typeface="Aptos"/>
              </a:rPr>
              <a:t>ThreatFusion AI  •  IBM BoB AI Innovation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1C1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1F8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1C1"/>
                </a:solidFill>
                <a:latin typeface="Aptos"/>
              </a:rPr>
              <a:t>Why defence analysts struggle with today's alert volume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3474720" cy="347472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Aptos"/>
              </a:rPr>
              <a:t>THOUSANDS OF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30175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Alerts arrive every day from SIEM systems, cyber sensors, satellite feeds and intelligence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00200"/>
            <a:ext cx="3474720" cy="347472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7830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ACC15"/>
                </a:solidFill>
                <a:latin typeface="Aptos"/>
              </a:rPr>
              <a:t>FRAGMENTED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258568"/>
            <a:ext cx="30175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Sources use different formats and often contain overlapping or incomplete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4" y="1600200"/>
            <a:ext cx="3474720" cy="347472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17830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Aptos"/>
              </a:rPr>
              <a:t>SLOW MANUAL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904" y="2258568"/>
            <a:ext cx="30175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Manual correlation makes it harder to separate genuine threats, identify attack patterns and prioritise critical incidents.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7171"/>
                </a:solidFill>
                <a:latin typeface="Aptos"/>
              </a:rPr>
              <a:t>Result: alert fatigue • slower threat response • risk of missing critical attacks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1C1"/>
                </a:solidFill>
                <a:latin typeface="Aptos"/>
              </a:rPr>
              <a:t>ThreatFusion AI  •  IBM BoB AI Innovation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1C1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1F8"/>
                </a:solidFill>
                <a:latin typeface="Aptos"/>
              </a:rPr>
              <a:t>The Commander's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1C1"/>
                </a:solidFill>
                <a:latin typeface="Aptos"/>
              </a:rPr>
              <a:t>Turning complex intelligence into actionable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212080" cy="416052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WHAT COMMANDERS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67128"/>
            <a:ext cx="475488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• The most important threat information first
• Clear supporting evidence
• Relevant attacker techniques
• Confidence / risk level
• Recommended investigation priority
• Concise BLUF (Bottom Line Up Front)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212080" cy="416052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91639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Aptos"/>
              </a:rPr>
              <a:t>WHAT THE CURRENT PROCESS CREATES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67128"/>
            <a:ext cx="475488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• Large volumes of unstructured information
• Time-consuming manual analysis
• Difficulty distinguishing false positives
• Delayed prioritisation
• Summaries that take significant analyst effort to produce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1C1"/>
                </a:solidFill>
                <a:latin typeface="Aptos"/>
              </a:rPr>
              <a:t>ThreatFusion AI  •  IBM BoB AI Innovation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1C1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1F8"/>
                </a:solidFill>
                <a:latin typeface="Aptos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1C1"/>
                </a:solidFill>
                <a:latin typeface="Aptos"/>
              </a:rPr>
              <a:t>An AI-powered correlation and decision-support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429000" cy="169164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39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Aptos"/>
              </a:rPr>
              <a:t>1  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67128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Multi-source threat feeds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429000" cy="169164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91639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2  NORMALISE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67128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Unify incoming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508760"/>
            <a:ext cx="3429000" cy="169164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91639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ACC15"/>
                </a:solidFill>
                <a:latin typeface="Aptos"/>
              </a:rPr>
              <a:t>3  CORRELATE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67128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Connect related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3429000" cy="169164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Aptos"/>
              </a:rPr>
              <a:t>4  PRIORITISE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15968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Risk-based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657600"/>
            <a:ext cx="3429000" cy="169164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840480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5 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315968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MITRE ATT&amp;CK +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657600"/>
            <a:ext cx="3429000" cy="169164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840480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Aptos"/>
              </a:rPr>
              <a:t>6  SUMMARISE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315968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Commander-ready BLUF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BF1F8"/>
                </a:solidFill>
                <a:latin typeface="Aptos"/>
              </a:rPr>
              <a:t>Core idea: transform raw alerts into correlated threat clusters, risk priorities, context, explanations and actionable summaries.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1C1"/>
                </a:solidFill>
                <a:latin typeface="Aptos"/>
              </a:rPr>
              <a:t>ThreatFusion AI  •  IBM BoB AI Innovation Hackathon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1C1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1F8"/>
                </a:solidFill>
                <a:latin typeface="Aptos"/>
              </a:rPr>
              <a:t>Core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1C1"/>
                </a:solidFill>
                <a:latin typeface="Aptos"/>
              </a:rPr>
              <a:t>End-to-end analysis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2331720"/>
            <a:ext cx="1143000" cy="1051560"/>
          </a:xfrm>
          <a:prstGeom prst="roundRect">
            <a:avLst/>
          </a:prstGeom>
          <a:solidFill>
            <a:srgbClr val="141D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2542032"/>
            <a:ext cx="10149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BF1F8"/>
                </a:solidFill>
                <a:latin typeface="Aptos"/>
              </a:rPr>
              <a:t>Raw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33472"/>
            <a:ext cx="164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4B1C1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2331720"/>
            <a:ext cx="1143000" cy="105156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2542032"/>
            <a:ext cx="10149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BF1F8"/>
                </a:solidFill>
                <a:latin typeface="Aptos"/>
              </a:rPr>
              <a:t>Data
Normalisation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633472"/>
            <a:ext cx="164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4B1C1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331720"/>
            <a:ext cx="1143000" cy="105156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7" y="2542032"/>
            <a:ext cx="10149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BF1F8"/>
                </a:solidFill>
                <a:latin typeface="Aptos"/>
              </a:rPr>
              <a:t>Alert
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33472"/>
            <a:ext cx="164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4B1C1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2331720"/>
            <a:ext cx="1143000" cy="105156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3088" y="2542032"/>
            <a:ext cx="10149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BF1F8"/>
                </a:solidFill>
                <a:latin typeface="Aptos"/>
              </a:rPr>
              <a:t>Threat
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633472"/>
            <a:ext cx="164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4B1C1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2331720"/>
            <a:ext cx="1143000" cy="1051560"/>
          </a:xfrm>
          <a:prstGeom prst="roundRect">
            <a:avLst/>
          </a:prstGeom>
          <a:solidFill>
            <a:srgbClr val="141D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3248" y="2542032"/>
            <a:ext cx="10149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BF1F8"/>
                </a:solidFill>
                <a:latin typeface="Aptos"/>
              </a:rPr>
              <a:t>Risk &amp; Priority
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33472"/>
            <a:ext cx="164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4B1C1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2331720"/>
            <a:ext cx="1143000" cy="105156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2542032"/>
            <a:ext cx="10149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BF1F8"/>
                </a:solidFill>
                <a:latin typeface="Aptos"/>
              </a:rPr>
              <a:t>MITRE ATT&amp;CK
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633472"/>
            <a:ext cx="164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4B1C1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2331720"/>
            <a:ext cx="1143000" cy="105156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2542032"/>
            <a:ext cx="10149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BF1F8"/>
                </a:solidFill>
                <a:latin typeface="Aptos"/>
              </a:rPr>
              <a:t>AI Threat
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633472"/>
            <a:ext cx="164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4B1C1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2331720"/>
            <a:ext cx="1143000" cy="1051560"/>
          </a:xfrm>
          <a:prstGeom prst="roundRect">
            <a:avLst/>
          </a:prstGeom>
          <a:solidFill>
            <a:srgbClr val="141D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2542032"/>
            <a:ext cx="10149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BF1F8"/>
                </a:solidFill>
                <a:latin typeface="Aptos"/>
              </a:rPr>
              <a:t>BLUF
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633472"/>
            <a:ext cx="164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4B1C1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69880" y="2331720"/>
            <a:ext cx="1143000" cy="1051560"/>
          </a:xfrm>
          <a:prstGeom prst="roundRect">
            <a:avLst/>
          </a:prstGeom>
          <a:solidFill>
            <a:srgbClr val="141D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33888" y="2542032"/>
            <a:ext cx="101498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BF1F8"/>
                </a:solidFill>
                <a:latin typeface="Aptos"/>
              </a:rPr>
              <a:t>Commander /
Analyst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06908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4B1C1"/>
                </a:solidFill>
                <a:latin typeface="Aptos"/>
              </a:rPr>
              <a:t>Every stage progressively reduces noise and increases decision value.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1C1"/>
                </a:solidFill>
                <a:latin typeface="Aptos"/>
              </a:rPr>
              <a:t>ThreatFusion AI  •  IBM BoB AI Innovation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1C1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1F8"/>
                </a:solidFill>
                <a:latin typeface="Aptos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1C1"/>
                </a:solidFill>
                <a:latin typeface="Aptos"/>
              </a:rPr>
              <a:t>What ThreatFusion AI delivers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5349240" cy="114300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Multi-Source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29967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Combines SIEM, cyber sensors, satellite/intelligence feeds and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49240" cy="114300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Aptos"/>
              </a:rPr>
              <a:t>Intelligent Alert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029967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Groups related alerts using IPs, hosts, timestamps, sources and behaviours.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788920"/>
            <a:ext cx="5349240" cy="114300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ACC15"/>
                </a:solidFill>
                <a:latin typeface="Aptos"/>
              </a:rPr>
              <a:t>Threat Prioritisation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47287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Assigns CRITICAL, HIGH, MEDIUM and LOW priority levels.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788920"/>
            <a:ext cx="5349240" cy="114300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971800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Aptos"/>
              </a:rPr>
              <a:t>MITRE ATT&amp;CK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47287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Maps observed behaviour to relevant attacker techniques.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206240"/>
            <a:ext cx="5349240" cy="114300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Explainable Threat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64607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Explains why a threat received its risk / priority level.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206240"/>
            <a:ext cx="5349240" cy="114300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389120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Aptos"/>
              </a:rPr>
              <a:t>BLUF Commander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864607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Presents the most important threat information first.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623560"/>
            <a:ext cx="5349240" cy="114300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ACC15"/>
                </a:solidFill>
                <a:latin typeface="Aptos"/>
              </a:rPr>
              <a:t>Investigation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8192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Highlights what analysts should investigate next based on correlated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1C1"/>
                </a:solidFill>
                <a:latin typeface="Aptos"/>
              </a:rPr>
              <a:t>ThreatFusion AI  •  IBM BoB AI Innovation Hackathon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1C1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1F8"/>
                </a:solidFill>
                <a:latin typeface="Aptos"/>
              </a:rPr>
              <a:t>Explainable Threat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1C1"/>
                </a:solidFill>
                <a:latin typeface="Aptos"/>
              </a:rPr>
              <a:t>The system shows the reasoning behind prioritisation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3474720" cy="425196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Aptos"/>
              </a:rPr>
              <a:t>RELATED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301752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• Shared indicators
• Common hosts / IPs
• Close timestamps
• Matching sources
• Similar behaviours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74720" cy="425196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THREAT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121408"/>
            <a:ext cx="301752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• Correlated threat cluster
• Observed attacker behaviour
• MITRE ATT&amp;CK techniques
• Confidence / risk level
• Supporting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4" y="1463040"/>
            <a:ext cx="3474720" cy="425196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164592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Aptos"/>
              </a:rPr>
              <a:t>DECISION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904" y="2121408"/>
            <a:ext cx="301752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• Priority: CRITICAL / HIGH / MEDIUM / LOW
• Why it matters
• Recommended investigation priority
• Concise BLUF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1C1"/>
                </a:solidFill>
                <a:latin typeface="Aptos"/>
              </a:rPr>
              <a:t>ThreatFusion AI  •  IBM BoB AI Innovation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1C1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1F8"/>
                </a:solidFill>
                <a:latin typeface="Aptos"/>
              </a:rPr>
              <a:t>Project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1C1"/>
                </a:solidFill>
                <a:latin typeface="Aptos"/>
              </a:rPr>
              <a:t>More than another alert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4B1C1"/>
                </a:solidFill>
                <a:latin typeface="Aptos"/>
              </a:rPr>
              <a:t>RAW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50876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5544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THREAT CLUSTERS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50876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5544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ACC15"/>
                </a:solidFill>
                <a:latin typeface="Aptos"/>
              </a:rPr>
              <a:t>RISK PRIORITIES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50876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5544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7171"/>
                </a:solidFill>
                <a:latin typeface="Aptos"/>
              </a:rPr>
              <a:t>ATT&amp;CK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150876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15544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Aptos"/>
              </a:rPr>
              <a:t>BLUF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423160"/>
            <a:ext cx="10287000" cy="214884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606040"/>
            <a:ext cx="9829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THREATFUSION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81528"/>
            <a:ext cx="9829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An intelligent correlation and decision-support layer that transforms raw alerts into a clear threat picture — with risk priorities, MITRE ATT&amp;CK context, explanations and commander-ready summaries.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07492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BF1F8"/>
                </a:solidFill>
                <a:latin typeface="Aptos"/>
              </a:rPr>
              <a:t>Tagline: “From thousands of alerts to one clear threat picture.”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1C1"/>
                </a:solidFill>
                <a:latin typeface="Aptos"/>
              </a:rPr>
              <a:t>ThreatFusion AI  •  IBM BoB AI Innovation Hackathon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1C1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BF1F8"/>
                </a:solidFill>
                <a:latin typeface="Aptos"/>
              </a:rPr>
              <a:t>Expected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1C1"/>
                </a:solidFill>
                <a:latin typeface="Aptos"/>
              </a:rPr>
              <a:t>The outcome described by the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651760" cy="411480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LESS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75688"/>
            <a:ext cx="21945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Correlate related alerts and help separate potential genuine threats from false positives.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417320"/>
            <a:ext cx="2651760" cy="411480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600200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Aptos"/>
              </a:rPr>
              <a:t>FASTER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075688"/>
            <a:ext cx="21945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Use risk-based priority levels to highlight incidents requiring immediate investigation.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2651760" cy="411480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00200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ACC15"/>
                </a:solidFill>
                <a:latin typeface="Aptos"/>
              </a:rPr>
              <a:t>MORE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075688"/>
            <a:ext cx="21945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Connect observed attacker behaviour with MITRE ATT&amp;CK techniques and supporting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1417320"/>
            <a:ext cx="2240280" cy="4114800"/>
          </a:xfrm>
          <a:prstGeom prst="roundRect">
            <a:avLst/>
          </a:prstGeom>
          <a:solidFill>
            <a:srgbClr val="141D2A"/>
          </a:solidFill>
          <a:ln>
            <a:solidFill>
              <a:srgbClr val="273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600200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7171"/>
                </a:solidFill>
                <a:latin typeface="Aptos"/>
              </a:rPr>
              <a:t>CLEAR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075688"/>
            <a:ext cx="17830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Give commanders concise BLUF summaries and recommended priorities.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1C1"/>
                </a:solidFill>
                <a:latin typeface="Aptos"/>
              </a:rPr>
              <a:t>ThreatFusion AI  •  IBM BoB AI Innovation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1C1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801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34D399"/>
                </a:solidFill>
                <a:latin typeface="Aptos"/>
              </a:rPr>
              <a:t>THREATFUSION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EBF1F8"/>
                </a:solidFill>
                <a:latin typeface="Aptos"/>
              </a:rPr>
              <a:t>One clear threat picture.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5468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4B1C1"/>
                </a:solidFill>
                <a:latin typeface="Aptos"/>
              </a:rPr>
              <a:t>AI-powered correlation • Risk-based prioritisation • MITRE ATT&amp;CK context • Explainable assessment • BLUF summaries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498348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Aptos"/>
              </a:rPr>
              <a:t>IBM BoB AI Innovation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1C1"/>
                </a:solidFill>
                <a:latin typeface="Aptos"/>
              </a:rPr>
              <a:t>ThreatFusion AI  •  IBM BoB AI Innovation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1C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